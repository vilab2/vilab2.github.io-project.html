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10" autoAdjust="0"/>
    <p:restoredTop sz="94660"/>
  </p:normalViewPr>
  <p:slideViewPr>
    <p:cSldViewPr snapToGrid="0">
      <p:cViewPr>
        <p:scale>
          <a:sx n="44" d="100"/>
          <a:sy n="44" d="100"/>
        </p:scale>
        <p:origin x="1332" y="10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48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E7CFE-C57A-40D9-86E5-779252F87329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E8A2273B-EB32-47D9-9443-F4137A75C8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36838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E7CFE-C57A-40D9-86E5-779252F87329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2273B-EB32-47D9-9443-F4137A75C8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15869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723E7CFE-C57A-40D9-86E5-779252F87329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E8A2273B-EB32-47D9-9443-F4137A75C8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95303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E7CFE-C57A-40D9-86E5-779252F87329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2273B-EB32-47D9-9443-F4137A75C8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25708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E7CFE-C57A-40D9-86E5-779252F87329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2273B-EB32-47D9-9443-F4137A75C8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86974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E7CFE-C57A-40D9-86E5-779252F87329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2273B-EB32-47D9-9443-F4137A75C8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12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E7CFE-C57A-40D9-86E5-779252F87329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2273B-EB32-47D9-9443-F4137A75C8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26567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E7CFE-C57A-40D9-86E5-779252F87329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2273B-EB32-47D9-9443-F4137A75C8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89167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E7CFE-C57A-40D9-86E5-779252F87329}" type="datetimeFigureOut">
              <a:rPr lang="en-US" smtClean="0"/>
              <a:t>11/24/2025</a:t>
            </a:fld>
            <a:endParaRPr lang="en-US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2273B-EB32-47D9-9443-F4137A75C8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29529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E7CFE-C57A-40D9-86E5-779252F87329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2273B-EB32-47D9-9443-F4137A75C8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50468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E7CFE-C57A-40D9-86E5-779252F87329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2273B-EB32-47D9-9443-F4137A75C8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32871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723E7CFE-C57A-40D9-86E5-779252F87329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E8A2273B-EB32-47D9-9443-F4137A75C8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369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en/phishing-fraud-cyber-security-3390518/" TargetMode="External"/><Relationship Id="rId7" Type="http://schemas.openxmlformats.org/officeDocument/2006/relationships/hyperlink" Target="https://womenincrimeink.blogspot.com/2010/12/personal-tale-of-identity-theft.html" TargetMode="External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.jpg"/><Relationship Id="rId5" Type="http://schemas.openxmlformats.org/officeDocument/2006/relationships/hyperlink" Target="https://opgelicht.avrotros.nl/hulp/artikelen/malware-wat-is-het-en-hoe-bescherm-je-jezelf-10365" TargetMode="External"/><Relationship Id="rId4" Type="http://schemas.openxmlformats.org/officeDocument/2006/relationships/image" Target="../media/image7.jp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hyperlink" Target="https://juniperpublishers.com/jfsci/JFSCI.MS.ID.555757.php" TargetMode="Externa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lickr.com/photos/111692634@N04/18495846450" TargetMode="External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openxmlformats.org/officeDocument/2006/relationships/image" Target="../media/image1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6" Type="http://schemas.microsoft.com/office/2007/relationships/hdphoto" Target="../media/hdphoto2.wdp"/><Relationship Id="rId5" Type="http://schemas.openxmlformats.org/officeDocument/2006/relationships/image" Target="../media/image4.png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freesvg.org/monthly-note-december" TargetMode="External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eforum.org/" TargetMode="External"/><Relationship Id="rId2" Type="http://schemas.openxmlformats.org/officeDocument/2006/relationships/hyperlink" Target="https://www.ic3.gov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verizon.com/business/resources/" TargetMode="External"/><Relationship Id="rId5" Type="http://schemas.openxmlformats.org/officeDocument/2006/relationships/hyperlink" Target="https://www.europol.europa.eu/" TargetMode="External"/><Relationship Id="rId4" Type="http://schemas.openxmlformats.org/officeDocument/2006/relationships/hyperlink" Target="https://www.cisa.gov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0949DB-5A0A-3F1E-95C6-6BC4815636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0697" y="1330181"/>
            <a:ext cx="11238807" cy="2387600"/>
          </a:xfrm>
        </p:spPr>
        <p:txBody>
          <a:bodyPr/>
          <a:lstStyle/>
          <a:p>
            <a:r>
              <a:rPr lang="en-US" sz="9000" dirty="0">
                <a:latin typeface="Berlin Sans FB" panose="020E0602020502020306" pitchFamily="34" charset="0"/>
              </a:rPr>
              <a:t>Cybercrime: Understanding Digital Threats 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E7D5D7-D598-E7B2-6B38-E7F126D5D6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499812"/>
            <a:ext cx="9144000" cy="1655762"/>
          </a:xfrm>
        </p:spPr>
        <p:txBody>
          <a:bodyPr>
            <a:normAutofit/>
          </a:bodyPr>
          <a:lstStyle/>
          <a:p>
            <a:endParaRPr lang="en-US" dirty="0"/>
          </a:p>
          <a:p>
            <a:r>
              <a:rPr lang="en-US" sz="1600" dirty="0"/>
              <a:t>CSIT100</a:t>
            </a:r>
          </a:p>
          <a:p>
            <a:r>
              <a:rPr lang="en-US" sz="1600" dirty="0"/>
              <a:t>Bianca Vila</a:t>
            </a:r>
          </a:p>
        </p:txBody>
      </p:sp>
    </p:spTree>
    <p:extLst>
      <p:ext uri="{BB962C8B-B14F-4D97-AF65-F5344CB8AC3E}">
        <p14:creationId xmlns:p14="http://schemas.microsoft.com/office/powerpoint/2010/main" val="29307804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CC872-E832-DCE1-A661-F7BDE1D541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Cybercrime?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D75DDF-BE18-9156-BA85-6D312C6CD8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6769" y="1881759"/>
            <a:ext cx="10058400" cy="4050792"/>
          </a:xfrm>
        </p:spPr>
        <p:txBody>
          <a:bodyPr/>
          <a:lstStyle/>
          <a:p>
            <a:r>
              <a:rPr lang="en-US" dirty="0"/>
              <a:t>An illegal activity that uses computers, the internet, or other digital devices to commit crimes, often with financial gain as a motive, but also for political , personal, or malicious reasons. </a:t>
            </a:r>
          </a:p>
          <a:p>
            <a:endParaRPr lang="en-US" dirty="0"/>
          </a:p>
          <a:p>
            <a:r>
              <a:rPr lang="en-US" dirty="0"/>
              <a:t>Common examples include:</a:t>
            </a:r>
          </a:p>
          <a:p>
            <a:pPr lvl="2"/>
            <a:r>
              <a:rPr lang="en-US" dirty="0"/>
              <a:t>Hacking</a:t>
            </a:r>
          </a:p>
          <a:p>
            <a:pPr lvl="2"/>
            <a:r>
              <a:rPr lang="en-US" dirty="0"/>
              <a:t>Phishing </a:t>
            </a:r>
          </a:p>
          <a:p>
            <a:pPr lvl="2"/>
            <a:r>
              <a:rPr lang="en-US" dirty="0"/>
              <a:t>Identity theft</a:t>
            </a:r>
          </a:p>
          <a:p>
            <a:pPr lvl="2"/>
            <a:r>
              <a:rPr lang="en-US" dirty="0"/>
              <a:t>Ransomware</a:t>
            </a:r>
          </a:p>
          <a:p>
            <a:pPr marL="548640" lvl="2" indent="0">
              <a:buNone/>
            </a:pPr>
            <a:endParaRPr lang="en-US" dirty="0"/>
          </a:p>
        </p:txBody>
      </p:sp>
      <p:pic>
        <p:nvPicPr>
          <p:cNvPr id="1026" name="Picture 2" descr="What is Cybercrime and How Can You ...">
            <a:extLst>
              <a:ext uri="{FF2B5EF4-FFF2-40B4-BE49-F238E27FC236}">
                <a16:creationId xmlns:a16="http://schemas.microsoft.com/office/drawing/2014/main" id="{22527BE9-B899-FB0D-DF79-E2DBC98E5E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47092" y="2964174"/>
            <a:ext cx="2826411" cy="29683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7127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8D4B64-9540-AEE0-A327-AE1F5A1297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4183" y="0"/>
            <a:ext cx="10058400" cy="1609344"/>
          </a:xfrm>
        </p:spPr>
        <p:txBody>
          <a:bodyPr/>
          <a:lstStyle/>
          <a:p>
            <a:r>
              <a:rPr lang="en-US" dirty="0"/>
              <a:t>Categories of Cybercrime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AC9BD1-01C0-C035-442A-C7E470C3709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7614" y="1737058"/>
            <a:ext cx="11541014" cy="4464170"/>
          </a:xfrm>
        </p:spPr>
        <p:txBody>
          <a:bodyPr/>
          <a:lstStyle/>
          <a:p>
            <a:r>
              <a:rPr lang="en-US" dirty="0"/>
              <a:t>Targets</a:t>
            </a:r>
          </a:p>
          <a:p>
            <a:pPr lvl="1"/>
            <a:r>
              <a:rPr lang="en-US" dirty="0"/>
              <a:t>Individuals</a:t>
            </a:r>
          </a:p>
          <a:p>
            <a:pPr lvl="1"/>
            <a:r>
              <a:rPr lang="en-US" dirty="0"/>
              <a:t>Businesses</a:t>
            </a:r>
          </a:p>
          <a:p>
            <a:pPr lvl="1"/>
            <a:r>
              <a:rPr lang="en-US" dirty="0"/>
              <a:t>Government </a:t>
            </a:r>
          </a:p>
          <a:p>
            <a:pPr lvl="1"/>
            <a:r>
              <a:rPr lang="en-US" dirty="0"/>
              <a:t>Infrastructure</a:t>
            </a:r>
          </a:p>
          <a:p>
            <a:r>
              <a:rPr lang="en-US" dirty="0"/>
              <a:t>Tools</a:t>
            </a:r>
          </a:p>
          <a:p>
            <a:pPr lvl="1"/>
            <a:r>
              <a:rPr lang="en-US" dirty="0"/>
              <a:t>Malware</a:t>
            </a:r>
          </a:p>
          <a:p>
            <a:pPr lvl="1"/>
            <a:r>
              <a:rPr lang="en-US" dirty="0"/>
              <a:t>Phishing </a:t>
            </a:r>
          </a:p>
          <a:p>
            <a:pPr lvl="1"/>
            <a:r>
              <a:rPr lang="en-US" dirty="0"/>
              <a:t>Spyware</a:t>
            </a:r>
          </a:p>
          <a:p>
            <a:r>
              <a:rPr lang="en-US" dirty="0"/>
              <a:t>Methods</a:t>
            </a:r>
          </a:p>
          <a:p>
            <a:pPr lvl="1"/>
            <a:r>
              <a:rPr lang="en-US" dirty="0"/>
              <a:t>Social Engineering</a:t>
            </a:r>
          </a:p>
          <a:p>
            <a:pPr lvl="1"/>
            <a:r>
              <a:rPr lang="en-US" dirty="0"/>
              <a:t>Physical tools </a:t>
            </a:r>
          </a:p>
          <a:p>
            <a:pPr lvl="1"/>
            <a:r>
              <a:rPr lang="en-US" dirty="0"/>
              <a:t>Cryptocurrency </a:t>
            </a:r>
          </a:p>
        </p:txBody>
      </p:sp>
      <p:pic>
        <p:nvPicPr>
          <p:cNvPr id="6" name="Picture 5" descr="A person holding a fishing rod next to a person using a computer&#10;&#10;AI-generated content may be incorrect.">
            <a:extLst>
              <a:ext uri="{FF2B5EF4-FFF2-40B4-BE49-F238E27FC236}">
                <a16:creationId xmlns:a16="http://schemas.microsoft.com/office/drawing/2014/main" id="{3A7250C9-3A53-2EA2-C594-DC43F08DF4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4306500" y="2794824"/>
            <a:ext cx="2475914" cy="1609344"/>
          </a:xfrm>
          <a:prstGeom prst="rect">
            <a:avLst/>
          </a:prstGeom>
        </p:spPr>
      </p:pic>
      <p:pic>
        <p:nvPicPr>
          <p:cNvPr id="8" name="Picture 7" descr="A red sign with a warning sign&#10;&#10;AI-generated content may be incorrect.">
            <a:extLst>
              <a:ext uri="{FF2B5EF4-FFF2-40B4-BE49-F238E27FC236}">
                <a16:creationId xmlns:a16="http://schemas.microsoft.com/office/drawing/2014/main" id="{98EACF1B-0493-70A9-D035-90FEE019BB1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9370410" y="2972988"/>
            <a:ext cx="2436962" cy="1279405"/>
          </a:xfrm>
          <a:prstGeom prst="rect">
            <a:avLst/>
          </a:prstGeom>
        </p:spPr>
      </p:pic>
      <p:pic>
        <p:nvPicPr>
          <p:cNvPr id="10" name="Picture 9" descr="A cartoon character holding a credit card&#10;&#10;AI-generated content may be incorrect.">
            <a:extLst>
              <a:ext uri="{FF2B5EF4-FFF2-40B4-BE49-F238E27FC236}">
                <a16:creationId xmlns:a16="http://schemas.microsoft.com/office/drawing/2014/main" id="{2162DB4A-F2B5-88B2-A655-3CCE120897F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7"/>
              </a:ext>
            </a:extLst>
          </a:blip>
          <a:stretch>
            <a:fillRect/>
          </a:stretch>
        </p:blipFill>
        <p:spPr>
          <a:xfrm>
            <a:off x="7204154" y="4252393"/>
            <a:ext cx="1905000" cy="190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4126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ED7F72-564C-BA77-7A45-763AE25485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types of cybercrime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73C3A6-90ED-D144-2CC7-0D533D4A23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3315" y="1935141"/>
            <a:ext cx="10058400" cy="4702725"/>
          </a:xfrm>
        </p:spPr>
        <p:txBody>
          <a:bodyPr/>
          <a:lstStyle/>
          <a:p>
            <a:r>
              <a:rPr lang="en-US" dirty="0"/>
              <a:t>Phishing and Social Engineering</a:t>
            </a:r>
          </a:p>
          <a:p>
            <a:pPr lvl="1"/>
            <a:r>
              <a:rPr lang="en-US" dirty="0"/>
              <a:t>Is when a user is tricked into giving personal information or click on malicious links.</a:t>
            </a:r>
          </a:p>
          <a:p>
            <a:r>
              <a:rPr lang="en-US" dirty="0"/>
              <a:t>Malware Attacks</a:t>
            </a:r>
          </a:p>
          <a:p>
            <a:pPr lvl="1"/>
            <a:r>
              <a:rPr lang="en-US" dirty="0"/>
              <a:t>Software designed to harm systems (viruses, spyware, </a:t>
            </a:r>
            <a:r>
              <a:rPr lang="en-US" dirty="0" err="1"/>
              <a:t>etc</a:t>
            </a:r>
            <a:r>
              <a:rPr lang="en-US" dirty="0"/>
              <a:t>,.)</a:t>
            </a:r>
          </a:p>
          <a:p>
            <a:r>
              <a:rPr lang="en-US" dirty="0"/>
              <a:t>Ransomware </a:t>
            </a:r>
          </a:p>
          <a:p>
            <a:pPr lvl="1"/>
            <a:r>
              <a:rPr lang="en-US" dirty="0"/>
              <a:t>Criminals encrypt data and demand payment to unlock it </a:t>
            </a:r>
          </a:p>
          <a:p>
            <a:r>
              <a:rPr lang="en-US" dirty="0"/>
              <a:t>Identity Theft</a:t>
            </a:r>
          </a:p>
          <a:p>
            <a:pPr lvl="1"/>
            <a:r>
              <a:rPr lang="en-US" dirty="0"/>
              <a:t>The act of stealing someone’s personal data to impersonate them or commit fraud </a:t>
            </a:r>
          </a:p>
          <a:p>
            <a:r>
              <a:rPr lang="en-US" dirty="0"/>
              <a:t>Online Scams and Fraud</a:t>
            </a:r>
          </a:p>
          <a:p>
            <a:pPr lvl="1"/>
            <a:r>
              <a:rPr lang="en-US" dirty="0"/>
              <a:t>Consists of fake websites, tech-supported scams, lottery scams</a:t>
            </a:r>
          </a:p>
          <a:p>
            <a:r>
              <a:rPr lang="en-US" dirty="0"/>
              <a:t>Cyberstalking and Harassment </a:t>
            </a:r>
          </a:p>
          <a:p>
            <a:pPr lvl="1"/>
            <a:r>
              <a:rPr lang="en-US" dirty="0"/>
              <a:t>Using digital tools to monitor, intimidate, or abuse someone </a:t>
            </a:r>
          </a:p>
        </p:txBody>
      </p:sp>
    </p:spTree>
    <p:extLst>
      <p:ext uri="{BB962C8B-B14F-4D97-AF65-F5344CB8AC3E}">
        <p14:creationId xmlns:p14="http://schemas.microsoft.com/office/powerpoint/2010/main" val="13350089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8AB5483-0513-79F9-2328-E7C7308053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4043" y="129419"/>
            <a:ext cx="2057400" cy="13716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E92F649-EF14-41CB-881C-0A87055162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cybercriminals operate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63419A-851F-F459-514D-DA7D298A94D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00515" y="1905000"/>
            <a:ext cx="10058400" cy="4326467"/>
          </a:xfrm>
        </p:spPr>
        <p:txBody>
          <a:bodyPr>
            <a:normAutofit/>
          </a:bodyPr>
          <a:lstStyle/>
          <a:p>
            <a:r>
              <a:rPr lang="en-US" dirty="0"/>
              <a:t>Planning </a:t>
            </a:r>
          </a:p>
          <a:p>
            <a:pPr lvl="1"/>
            <a:r>
              <a:rPr lang="en-US" dirty="0"/>
              <a:t>Criminals research their targets and gather information </a:t>
            </a:r>
          </a:p>
          <a:p>
            <a:r>
              <a:rPr lang="en-US" dirty="0"/>
              <a:t>Gaining access</a:t>
            </a:r>
          </a:p>
          <a:p>
            <a:pPr lvl="1"/>
            <a:r>
              <a:rPr lang="en-US" dirty="0"/>
              <a:t>Use stolen passwords, phishing, or system exploits</a:t>
            </a:r>
          </a:p>
          <a:p>
            <a:r>
              <a:rPr lang="en-US" dirty="0"/>
              <a:t>Maintaining access</a:t>
            </a:r>
          </a:p>
          <a:p>
            <a:pPr lvl="1"/>
            <a:r>
              <a:rPr lang="en-US" dirty="0"/>
              <a:t>Stay connected without being detected </a:t>
            </a:r>
          </a:p>
          <a:p>
            <a:r>
              <a:rPr lang="en-US" dirty="0"/>
              <a:t>Executing the attack</a:t>
            </a:r>
          </a:p>
          <a:p>
            <a:pPr lvl="1"/>
            <a:r>
              <a:rPr lang="en-US" dirty="0"/>
              <a:t>Steal data, lock files (ransomware), commit fraud, or disrupt services </a:t>
            </a:r>
          </a:p>
          <a:p>
            <a:r>
              <a:rPr lang="en-US" dirty="0"/>
              <a:t>Covering their tracks</a:t>
            </a:r>
          </a:p>
          <a:p>
            <a:pPr lvl="1"/>
            <a:r>
              <a:rPr lang="en-US" dirty="0"/>
              <a:t>Delete logs, hide identity, use VPNs, or dark web tools</a:t>
            </a:r>
          </a:p>
        </p:txBody>
      </p:sp>
    </p:spTree>
    <p:extLst>
      <p:ext uri="{BB962C8B-B14F-4D97-AF65-F5344CB8AC3E}">
        <p14:creationId xmlns:p14="http://schemas.microsoft.com/office/powerpoint/2010/main" val="428009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 descr="Earth globe: Americas with solid fill">
            <a:extLst>
              <a:ext uri="{FF2B5EF4-FFF2-40B4-BE49-F238E27FC236}">
                <a16:creationId xmlns:a16="http://schemas.microsoft.com/office/drawing/2014/main" id="{28DB8B9E-AFBE-0722-E4C9-B878EC10ABA1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bright="76000" contrast="6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09428" y="385040"/>
            <a:ext cx="1661886" cy="166188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24FCCC9-52E3-3EF9-4389-47C5059E72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1724" y="484632"/>
            <a:ext cx="10058400" cy="1609344"/>
          </a:xfrm>
        </p:spPr>
        <p:txBody>
          <a:bodyPr/>
          <a:lstStyle/>
          <a:p>
            <a:r>
              <a:rPr lang="en-US" dirty="0"/>
              <a:t>Real-world cybercrime cases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1C8F6C-9698-140E-11FA-1957A50E48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1947333"/>
            <a:ext cx="11122152" cy="4426035"/>
          </a:xfrm>
        </p:spPr>
        <p:txBody>
          <a:bodyPr>
            <a:normAutofit/>
          </a:bodyPr>
          <a:lstStyle/>
          <a:p>
            <a:r>
              <a:rPr lang="en-US" dirty="0"/>
              <a:t>WannaCry Ransomware Attack (2017)</a:t>
            </a:r>
          </a:p>
          <a:p>
            <a:pPr lvl="1"/>
            <a:r>
              <a:rPr lang="en-US" dirty="0"/>
              <a:t>Affected 200,00+ computers in 150 countries </a:t>
            </a:r>
          </a:p>
          <a:p>
            <a:pPr lvl="1"/>
            <a:r>
              <a:rPr lang="en-US" dirty="0"/>
              <a:t>Targeted hospitals, businesses, and governments</a:t>
            </a:r>
          </a:p>
          <a:p>
            <a:pPr lvl="1"/>
            <a:r>
              <a:rPr lang="en-US" dirty="0"/>
              <a:t>Locked files ad demanded ransom in Bitcoin </a:t>
            </a:r>
          </a:p>
          <a:p>
            <a:r>
              <a:rPr lang="en-US" dirty="0"/>
              <a:t>Yahoo Data Breach (2013-2014)</a:t>
            </a:r>
          </a:p>
          <a:p>
            <a:pPr lvl="1"/>
            <a:r>
              <a:rPr lang="en-US" dirty="0"/>
              <a:t>3 billion accounts compromised </a:t>
            </a:r>
          </a:p>
          <a:p>
            <a:pPr lvl="1"/>
            <a:r>
              <a:rPr lang="en-US" dirty="0"/>
              <a:t>Included emails, passwords, and security questions </a:t>
            </a:r>
          </a:p>
          <a:p>
            <a:r>
              <a:rPr lang="en-US" dirty="0"/>
              <a:t>Sony Pictures Hack (2014)</a:t>
            </a:r>
          </a:p>
          <a:p>
            <a:pPr lvl="1"/>
            <a:r>
              <a:rPr lang="en-US" dirty="0"/>
              <a:t>Hackers leaked unreleased movies, emails, ad employee data</a:t>
            </a:r>
          </a:p>
          <a:p>
            <a:pPr lvl="1"/>
            <a:r>
              <a:rPr lang="en-US" dirty="0"/>
              <a:t>Was ALLEGDELY politically motivated</a:t>
            </a:r>
          </a:p>
          <a:p>
            <a:pPr lvl="1"/>
            <a:r>
              <a:rPr lang="en-US" dirty="0"/>
              <a:t>Caused major reputational and financial damage</a:t>
            </a:r>
          </a:p>
          <a:p>
            <a:pPr lvl="4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24499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C7FF924-8DA0-4BE9-8C7E-095B0EC13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66502" y="0"/>
            <a:ext cx="6125497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5DAB83-FCD1-78B6-CB88-C8400B67CF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0" y="484632"/>
            <a:ext cx="5299586" cy="1609344"/>
          </a:xfrm>
          <a:ln>
            <a:noFill/>
          </a:ln>
        </p:spPr>
        <p:txBody>
          <a:bodyPr>
            <a:normAutofit/>
          </a:bodyPr>
          <a:lstStyle/>
          <a:p>
            <a:r>
              <a:rPr lang="en-US" sz="4000"/>
              <a:t>Cybercrime by the numbers </a:t>
            </a:r>
          </a:p>
        </p:txBody>
      </p:sp>
      <p:pic>
        <p:nvPicPr>
          <p:cNvPr id="5" name="Picture 4" descr="A table with text and numbers&#10;&#10;AI-generated content may be incorrect.">
            <a:extLst>
              <a:ext uri="{FF2B5EF4-FFF2-40B4-BE49-F238E27FC236}">
                <a16:creationId xmlns:a16="http://schemas.microsoft.com/office/drawing/2014/main" id="{2041E876-3DE9-8752-C0A1-4EEA2137F99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633999" y="1883307"/>
            <a:ext cx="5112461" cy="3101647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DE4D1E-DAB7-11B0-3A58-B49A09B1A6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799" y="2121408"/>
            <a:ext cx="5299585" cy="4050792"/>
          </a:xfrm>
        </p:spPr>
        <p:txBody>
          <a:bodyPr>
            <a:normAutofit/>
          </a:bodyPr>
          <a:lstStyle/>
          <a:p>
            <a:r>
              <a:rPr lang="en-US" sz="1500"/>
              <a:t>Global Impact</a:t>
            </a:r>
          </a:p>
          <a:p>
            <a:pPr lvl="1"/>
            <a:r>
              <a:rPr lang="en-US" sz="1500"/>
              <a:t>Cybercrime costs over  an estimated $8 trillion annually worldwide in 2023.</a:t>
            </a:r>
          </a:p>
          <a:p>
            <a:pPr lvl="1"/>
            <a:r>
              <a:rPr lang="en-US" sz="1500"/>
              <a:t>Estimated every 11 seconds a cyberattack is occurring </a:t>
            </a:r>
          </a:p>
          <a:p>
            <a:pPr lvl="1"/>
            <a:endParaRPr lang="en-US" sz="1500"/>
          </a:p>
          <a:p>
            <a:r>
              <a:rPr lang="en-US" sz="1500"/>
              <a:t>Data breaches</a:t>
            </a:r>
          </a:p>
          <a:p>
            <a:pPr lvl="1"/>
            <a:r>
              <a:rPr lang="en-US" sz="1500"/>
              <a:t>50+ billion records exposed globally in 2022</a:t>
            </a:r>
          </a:p>
          <a:p>
            <a:pPr lvl="1"/>
            <a:r>
              <a:rPr lang="en-US" sz="1500"/>
              <a:t>Average cost of a data breach is $4.45 million per company </a:t>
            </a:r>
          </a:p>
          <a:p>
            <a:pPr lvl="2"/>
            <a:endParaRPr lang="en-US" sz="1500"/>
          </a:p>
          <a:p>
            <a:r>
              <a:rPr lang="en-US" sz="1500"/>
              <a:t>Targeted Industries </a:t>
            </a:r>
          </a:p>
          <a:p>
            <a:pPr lvl="1"/>
            <a:r>
              <a:rPr lang="en-US" sz="1500"/>
              <a:t>Healthcare, finance, education, and government are </a:t>
            </a:r>
            <a:r>
              <a:rPr lang="en-US" sz="1500" u="sng"/>
              <a:t>top</a:t>
            </a:r>
            <a:r>
              <a:rPr lang="en-US" sz="1500"/>
              <a:t> targets </a:t>
            </a:r>
          </a:p>
          <a:p>
            <a:pPr lvl="2"/>
            <a:endParaRPr lang="en-US" sz="150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5029B4A8-2CF0-48DC-B29E-F3B62EDDC4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F71DA811-F7AE-460D-9891-57F221994B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6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3747795E-BBFD-44B4-892D-2054745A84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064057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C655D2-1EC3-337D-C546-40244C0809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Legal response to cybercrime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A7B46C-EF41-BEAC-A0E0-529A9CFFCF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58647" y="1889760"/>
            <a:ext cx="5246285" cy="428244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U.S Laws</a:t>
            </a:r>
          </a:p>
          <a:p>
            <a:pPr lvl="1"/>
            <a:r>
              <a:rPr lang="en-US" dirty="0"/>
              <a:t>Computer Fraud and Abuse Act (CFAA)</a:t>
            </a:r>
          </a:p>
          <a:p>
            <a:pPr lvl="1"/>
            <a:r>
              <a:rPr lang="en-US" dirty="0"/>
              <a:t>Electronic Communications Privacy Act (ECPA)</a:t>
            </a:r>
          </a:p>
          <a:p>
            <a:pPr lvl="1"/>
            <a:r>
              <a:rPr lang="en-US" dirty="0"/>
              <a:t>Identity Theft and Assumption Deterrence Act </a:t>
            </a:r>
          </a:p>
          <a:p>
            <a:r>
              <a:rPr lang="en-US" dirty="0"/>
              <a:t>Law Enforcement </a:t>
            </a:r>
          </a:p>
          <a:p>
            <a:pPr lvl="1"/>
            <a:r>
              <a:rPr lang="en-US" dirty="0"/>
              <a:t>FBI Cyber Division </a:t>
            </a:r>
          </a:p>
          <a:p>
            <a:pPr lvl="1"/>
            <a:r>
              <a:rPr lang="en-US" dirty="0"/>
              <a:t>Secret Service </a:t>
            </a:r>
          </a:p>
          <a:p>
            <a:pPr lvl="1"/>
            <a:r>
              <a:rPr lang="en-US" dirty="0"/>
              <a:t>DHS/CISA</a:t>
            </a:r>
          </a:p>
          <a:p>
            <a:r>
              <a:rPr lang="en-US" dirty="0"/>
              <a:t>International Cooperation</a:t>
            </a:r>
          </a:p>
          <a:p>
            <a:pPr lvl="1"/>
            <a:r>
              <a:rPr lang="en-US" dirty="0"/>
              <a:t>INTERPOL, Europol. UN</a:t>
            </a:r>
          </a:p>
          <a:p>
            <a:pPr lvl="1"/>
            <a:r>
              <a:rPr lang="en-US" dirty="0"/>
              <a:t>Budapest Convention on Cybercrime 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609F41-9173-D006-3D9F-79BDA8CD5FE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Challenges</a:t>
            </a:r>
          </a:p>
          <a:p>
            <a:pPr lvl="1"/>
            <a:r>
              <a:rPr lang="en-US" dirty="0"/>
              <a:t>Cybercrime crosses borders</a:t>
            </a:r>
          </a:p>
          <a:p>
            <a:pPr lvl="1"/>
            <a:r>
              <a:rPr lang="en-US" dirty="0"/>
              <a:t>Criminals often are anonymous</a:t>
            </a:r>
          </a:p>
          <a:p>
            <a:pPr lvl="1"/>
            <a:r>
              <a:rPr lang="en-US" dirty="0"/>
              <a:t>Technology evolves very quick </a:t>
            </a:r>
          </a:p>
        </p:txBody>
      </p:sp>
    </p:spTree>
    <p:extLst>
      <p:ext uri="{BB962C8B-B14F-4D97-AF65-F5344CB8AC3E}">
        <p14:creationId xmlns:p14="http://schemas.microsoft.com/office/powerpoint/2010/main" val="41558300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8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40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21CB37-8911-4C33-3DDC-7A8247D589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protect yourself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0F9B55-0C33-19B2-7763-BFFB55FE5F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Strong, unique passwords</a:t>
            </a:r>
          </a:p>
          <a:p>
            <a:r>
              <a:rPr lang="en-US" dirty="0"/>
              <a:t>Multi-factor authentication </a:t>
            </a:r>
          </a:p>
          <a:p>
            <a:r>
              <a:rPr lang="en-US" dirty="0"/>
              <a:t>Avoid suspicious links and/or emails </a:t>
            </a:r>
          </a:p>
          <a:p>
            <a:r>
              <a:rPr lang="en-US" dirty="0"/>
              <a:t>Update software regularly </a:t>
            </a:r>
          </a:p>
          <a:p>
            <a:pPr lvl="1"/>
            <a:r>
              <a:rPr lang="en-US" dirty="0"/>
              <a:t>You can also change your password every 70-sih days </a:t>
            </a:r>
          </a:p>
          <a:p>
            <a:r>
              <a:rPr lang="en-US" dirty="0"/>
              <a:t>Use antivirus and secure Wi-Fi</a:t>
            </a:r>
          </a:p>
          <a:p>
            <a:r>
              <a:rPr lang="en-US" dirty="0"/>
              <a:t>Back up imported data </a:t>
            </a:r>
          </a:p>
        </p:txBody>
      </p:sp>
      <p:pic>
        <p:nvPicPr>
          <p:cNvPr id="5" name="Picture 4" descr="A hand reaching out to a computer screen&#10;&#10;AI-generated content may be incorrect.">
            <a:extLst>
              <a:ext uri="{FF2B5EF4-FFF2-40B4-BE49-F238E27FC236}">
                <a16:creationId xmlns:a16="http://schemas.microsoft.com/office/drawing/2014/main" id="{BBA3E07E-FAF1-3CDD-B7D4-5E6059656C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7772400" y="2121408"/>
            <a:ext cx="3979333" cy="2648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82753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Group 31">
            <a:extLst>
              <a:ext uri="{FF2B5EF4-FFF2-40B4-BE49-F238E27FC236}">
                <a16:creationId xmlns:a16="http://schemas.microsoft.com/office/drawing/2014/main" id="{240B56E4-373D-4EC3-816C-0EAC1C8680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1E90CEEA-DB88-4D63-9114-2E1FFD1576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2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D2A175AA-4B16-4687-A52A-897C3A13F9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26" name="Content Placeholder 25" descr="A diagram of a diagram&#10;&#10;AI-generated content may be incorrect.">
            <a:extLst>
              <a:ext uri="{FF2B5EF4-FFF2-40B4-BE49-F238E27FC236}">
                <a16:creationId xmlns:a16="http://schemas.microsoft.com/office/drawing/2014/main" id="{289FF2DC-56AE-04A2-725E-7C45E6971DE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/>
          <a:srcRect l="6360" r="5435"/>
          <a:stretch>
            <a:fillRect/>
          </a:stretch>
        </p:blipFill>
        <p:spPr>
          <a:xfrm>
            <a:off x="3344" y="3509433"/>
            <a:ext cx="4475150" cy="3348566"/>
          </a:xfrm>
          <a:prstGeom prst="rect">
            <a:avLst/>
          </a:prstGeom>
        </p:spPr>
      </p:pic>
      <p:sp>
        <p:nvSpPr>
          <p:cNvPr id="36" name="Rectangle 35">
            <a:extLst>
              <a:ext uri="{FF2B5EF4-FFF2-40B4-BE49-F238E27FC236}">
                <a16:creationId xmlns:a16="http://schemas.microsoft.com/office/drawing/2014/main" id="{881BB01C-2DAE-48BD-8E81-DAE2E1BC4D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0070" y="0"/>
            <a:ext cx="7541930" cy="6857999"/>
          </a:xfrm>
          <a:prstGeom prst="rect">
            <a:avLst/>
          </a:prstGeom>
          <a:blipFill dpi="0" rotWithShape="1">
            <a:blip r:embed="rId5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B3E647-B9F3-EE47-3F80-DB2A30BBB7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0109" y="484632"/>
            <a:ext cx="6730277" cy="1609344"/>
          </a:xfr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800"/>
              <a:t>Emerging threats </a:t>
            </a:r>
          </a:p>
        </p:txBody>
      </p:sp>
      <p:pic>
        <p:nvPicPr>
          <p:cNvPr id="27" name="Picture 26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9B6035F3-A4AF-ECC7-05C5-ABD33F0C38C4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5418" r="1" b="4160"/>
          <a:stretch>
            <a:fillRect/>
          </a:stretch>
        </p:blipFill>
        <p:spPr>
          <a:xfrm>
            <a:off x="3344" y="10"/>
            <a:ext cx="4475150" cy="3348557"/>
          </a:xfrm>
          <a:prstGeom prst="rect">
            <a:avLst/>
          </a:prstGeom>
        </p:spPr>
      </p:pic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19EE8DF0-A9F2-8501-EA7A-9110D39B9F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70109" y="2121408"/>
            <a:ext cx="6730276" cy="4050792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1800"/>
              <a:t>AI attacks</a:t>
            </a:r>
          </a:p>
          <a:p>
            <a:pPr lvl="1"/>
            <a:r>
              <a:rPr lang="en-US"/>
              <a:t>Smarter phishing, and deepfakes</a:t>
            </a:r>
          </a:p>
          <a:p>
            <a:r>
              <a:rPr lang="en-US" sz="1800"/>
              <a:t>Deepfake Impersonation</a:t>
            </a:r>
          </a:p>
          <a:p>
            <a:pPr lvl="1"/>
            <a:r>
              <a:rPr lang="en-US"/>
              <a:t>Fake videos/voices used for scams, fraud, or misinformation </a:t>
            </a:r>
          </a:p>
          <a:p>
            <a:r>
              <a:rPr lang="en-US" sz="1800"/>
              <a:t>Crypto related crimes</a:t>
            </a:r>
          </a:p>
          <a:p>
            <a:pPr lvl="1"/>
            <a:r>
              <a:rPr lang="en-US"/>
              <a:t>Theft, scams, and anonymous transactions</a:t>
            </a:r>
          </a:p>
          <a:p>
            <a:r>
              <a:rPr lang="en-US" sz="1800"/>
              <a:t>Attacks on healthcare and biotech data</a:t>
            </a:r>
          </a:p>
          <a:p>
            <a:pPr lvl="1"/>
            <a:r>
              <a:rPr lang="en-US"/>
              <a:t>Theft of medical records, genetic data, or research </a:t>
            </a: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AD55FF18-1979-4730-A345-E74E328F07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6F8381C4-0751-4A6E-BFF7-48DF67BFA0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2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F7320C1D-D7A9-4392-B3B6-ACEF193A8D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942490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20469B-3057-CACC-77DD-E02423C391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take-aways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FD6AA7-6B5E-8323-04F5-93C293F4EA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Cybercrime is a growing global threat </a:t>
            </a:r>
          </a:p>
          <a:p>
            <a:r>
              <a:rPr lang="en-US" dirty="0"/>
              <a:t>Everyone is a potential target</a:t>
            </a:r>
          </a:p>
          <a:p>
            <a:r>
              <a:rPr lang="en-US" dirty="0"/>
              <a:t>Prevention requires awareness and good digital habits </a:t>
            </a:r>
          </a:p>
          <a:p>
            <a:r>
              <a:rPr lang="en-US" dirty="0"/>
              <a:t>Staying informed is the best defense</a:t>
            </a:r>
          </a:p>
          <a:p>
            <a:r>
              <a:rPr lang="en-US" dirty="0"/>
              <a:t>Organizations should combine technology AND training</a:t>
            </a:r>
          </a:p>
        </p:txBody>
      </p:sp>
      <p:pic>
        <p:nvPicPr>
          <p:cNvPr id="5" name="Picture 4" descr="A yellow post-it note with a red push pin&#10;&#10;AI-generated content may be incorrect.">
            <a:extLst>
              <a:ext uri="{FF2B5EF4-FFF2-40B4-BE49-F238E27FC236}">
                <a16:creationId xmlns:a16="http://schemas.microsoft.com/office/drawing/2014/main" id="{086E43FE-47EC-4B5D-5494-A443906616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 rot="2354672">
            <a:off x="8375113" y="148073"/>
            <a:ext cx="2282462" cy="2282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24348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mph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encilGrayscale/>
                    </a14:imgEffect>
                  </a14:imgLayer>
                </a14:imgProps>
              </a:ext>
            </a:extLst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39CDD9-4F34-487E-953D-2FDF933D2E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Famous quote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8F3F90-00BF-5AB8-E809-4AD27BFFF2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1948879"/>
            <a:ext cx="10058400" cy="4727691"/>
          </a:xfrm>
        </p:spPr>
        <p:txBody>
          <a:bodyPr/>
          <a:lstStyle/>
          <a:p>
            <a:r>
              <a:rPr lang="en-US" dirty="0"/>
              <a:t>“Cybercrime is the single biggest threat to every company on earth.”- Ginni Rometty</a:t>
            </a:r>
          </a:p>
          <a:p>
            <a:pPr lvl="1"/>
            <a:r>
              <a:rPr lang="en-US" dirty="0"/>
              <a:t>Former CEO, IBM. </a:t>
            </a:r>
          </a:p>
          <a:p>
            <a:pPr lvl="1"/>
            <a:r>
              <a:rPr lang="en-US" dirty="0"/>
              <a:t>This quote underscores the pervasive and significant risk that cybercrime poses to business globally 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41108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9F8F76-7911-7BA6-CB4B-5D65AE90BC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8908E2-EFFA-0B2F-AE4F-3B1537FDDF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6400" y="2093976"/>
            <a:ext cx="10721848" cy="4078224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Federal Bureau of Investigation, Internet Crime Complaint Center. (2023). </a:t>
            </a:r>
            <a:r>
              <a:rPr lang="en-US" i="1" dirty="0"/>
              <a:t>Internet Crime Report 2023.</a:t>
            </a:r>
            <a:r>
              <a:rPr lang="en-US" dirty="0"/>
              <a:t> </a:t>
            </a:r>
            <a:r>
              <a:rPr lang="en-US" dirty="0">
                <a:hlinkClick r:id="rId2"/>
              </a:rPr>
              <a:t>https://www.ic3.gov</a:t>
            </a:r>
            <a:endParaRPr lang="en-US" dirty="0"/>
          </a:p>
          <a:p>
            <a:r>
              <a:rPr lang="en-US" dirty="0"/>
              <a:t>Federal Bureau of Investigation, Internet Crime Complaint Center. (2024). </a:t>
            </a:r>
            <a:r>
              <a:rPr lang="en-US" i="1" dirty="0"/>
              <a:t>Internet Crime Report 2024.</a:t>
            </a:r>
            <a:r>
              <a:rPr lang="en-US" dirty="0"/>
              <a:t> </a:t>
            </a:r>
            <a:r>
              <a:rPr lang="en-US" dirty="0">
                <a:hlinkClick r:id="rId2"/>
              </a:rPr>
              <a:t>https://www.ic3.gov</a:t>
            </a:r>
            <a:endParaRPr lang="en-US" dirty="0"/>
          </a:p>
          <a:p>
            <a:r>
              <a:rPr lang="en-US" dirty="0"/>
              <a:t>World Economic Forum. (2024). </a:t>
            </a:r>
            <a:r>
              <a:rPr lang="en-US" i="1" dirty="0"/>
              <a:t>Strategic cybersecurity talent framework.</a:t>
            </a:r>
            <a:r>
              <a:rPr lang="en-US" dirty="0"/>
              <a:t> </a:t>
            </a:r>
            <a:r>
              <a:rPr lang="en-US" dirty="0">
                <a:hlinkClick r:id="rId3"/>
              </a:rPr>
              <a:t>https://www.weforum.org</a:t>
            </a:r>
            <a:endParaRPr lang="en-US" dirty="0"/>
          </a:p>
          <a:p>
            <a:r>
              <a:rPr lang="en-US" dirty="0"/>
              <a:t>Cybersecurity &amp; Infrastructure Security Agency. (n.d.). </a:t>
            </a:r>
            <a:r>
              <a:rPr lang="en-US" i="1" dirty="0"/>
              <a:t>Cyber hygiene best practices.</a:t>
            </a:r>
            <a:r>
              <a:rPr lang="en-US" dirty="0"/>
              <a:t> U.S. Department of Homeland Security. </a:t>
            </a:r>
            <a:r>
              <a:rPr lang="en-US" dirty="0">
                <a:hlinkClick r:id="rId4"/>
              </a:rPr>
              <a:t>https://www.cisa.gov</a:t>
            </a:r>
            <a:endParaRPr lang="en-US" dirty="0"/>
          </a:p>
          <a:p>
            <a:r>
              <a:rPr lang="en-US" dirty="0"/>
              <a:t>Europol. (2024). </a:t>
            </a:r>
            <a:r>
              <a:rPr lang="en-US" i="1" dirty="0"/>
              <a:t>Internet </a:t>
            </a:r>
            <a:r>
              <a:rPr lang="en-US" i="1" dirty="0" err="1"/>
              <a:t>organised</a:t>
            </a:r>
            <a:r>
              <a:rPr lang="en-US" i="1" dirty="0"/>
              <a:t> crime threat assessment (IOCTA) 2024.</a:t>
            </a:r>
            <a:r>
              <a:rPr lang="en-US" dirty="0"/>
              <a:t> </a:t>
            </a:r>
            <a:r>
              <a:rPr lang="en-US" dirty="0">
                <a:hlinkClick r:id="rId5"/>
              </a:rPr>
              <a:t>https://www.europol.europa.eu</a:t>
            </a:r>
            <a:endParaRPr lang="en-US" dirty="0"/>
          </a:p>
          <a:p>
            <a:r>
              <a:rPr lang="en-US" dirty="0"/>
              <a:t>Symantec. (2024). </a:t>
            </a:r>
            <a:r>
              <a:rPr lang="en-US" i="1" dirty="0"/>
              <a:t>Internet security threat report.</a:t>
            </a:r>
            <a:r>
              <a:rPr lang="en-US" dirty="0"/>
              <a:t> https://www.broadcom.com/company/newsroom/press-releases</a:t>
            </a:r>
          </a:p>
          <a:p>
            <a:r>
              <a:rPr lang="en-US" dirty="0"/>
              <a:t>Verizon. (2024). </a:t>
            </a:r>
            <a:r>
              <a:rPr lang="en-US" i="1" dirty="0"/>
              <a:t>Data breach investigations report.</a:t>
            </a:r>
            <a:r>
              <a:rPr lang="en-US" dirty="0"/>
              <a:t> </a:t>
            </a:r>
            <a:r>
              <a:rPr lang="en-US" dirty="0">
                <a:hlinkClick r:id="rId6"/>
              </a:rPr>
              <a:t>https://www.verizon.com/business/resources/</a:t>
            </a:r>
            <a:endParaRPr lang="en-US" dirty="0"/>
          </a:p>
          <a:p>
            <a:r>
              <a:rPr lang="en-US" dirty="0"/>
              <a:t>World Economic Forum. (2023). </a:t>
            </a:r>
            <a:r>
              <a:rPr lang="en-US" i="1" dirty="0"/>
              <a:t>Global cybersecurity outlook 2023.</a:t>
            </a:r>
            <a:r>
              <a:rPr lang="en-US" dirty="0"/>
              <a:t> </a:t>
            </a:r>
            <a:r>
              <a:rPr lang="en-US" dirty="0">
                <a:hlinkClick r:id="rId3"/>
              </a:rPr>
              <a:t>https://www.weforum.org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762003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TM03090434[[fn=Wood Type]]</Template>
  <TotalTime>440</TotalTime>
  <Words>772</Words>
  <Application>Microsoft Office PowerPoint</Application>
  <PresentationFormat>Widescreen</PresentationFormat>
  <Paragraphs>125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Berlin Sans FB</vt:lpstr>
      <vt:lpstr>Calibri</vt:lpstr>
      <vt:lpstr>Rockwell</vt:lpstr>
      <vt:lpstr>Rockwell Condensed</vt:lpstr>
      <vt:lpstr>Rockwell Extra Bold</vt:lpstr>
      <vt:lpstr>Wingdings</vt:lpstr>
      <vt:lpstr>Wood Type</vt:lpstr>
      <vt:lpstr>Cybercrime: Understanding Digital Threats  </vt:lpstr>
      <vt:lpstr>What is Cybercrime?</vt:lpstr>
      <vt:lpstr>Categories of Cybercrime </vt:lpstr>
      <vt:lpstr>Common types of cybercrime </vt:lpstr>
      <vt:lpstr>How cybercriminals operate</vt:lpstr>
      <vt:lpstr>Real-world cybercrime cases</vt:lpstr>
      <vt:lpstr>Cybercrime by the numbers </vt:lpstr>
      <vt:lpstr>Legal response to cybercrime </vt:lpstr>
      <vt:lpstr>How to protect yourself </vt:lpstr>
      <vt:lpstr>Emerging threats </vt:lpstr>
      <vt:lpstr>Key take-aways</vt:lpstr>
      <vt:lpstr>Famous quote </vt:lpstr>
      <vt:lpstr>References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Brianna R. Vila</dc:creator>
  <cp:lastModifiedBy>Brianna R. Vila</cp:lastModifiedBy>
  <cp:revision>4</cp:revision>
  <dcterms:created xsi:type="dcterms:W3CDTF">2025-10-07T18:24:32Z</dcterms:created>
  <dcterms:modified xsi:type="dcterms:W3CDTF">2025-11-25T00:32:34Z</dcterms:modified>
</cp:coreProperties>
</file>